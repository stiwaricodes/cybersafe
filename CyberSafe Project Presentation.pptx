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Montserrat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0887334f-6676-4615-bc9d-cf3e62822967.fntdata" /><ns0:Relationship Id="rIdFont20" Type="http://schemas.openxmlformats.org/officeDocument/2006/relationships/font" Target="fonts/4d1f6a94-619b-4901-a968-1a326e3ef189.fntdata" /><ns0:Relationship Id="rIdFont21" Type="http://schemas.openxmlformats.org/officeDocument/2006/relationships/font" Target="fonts/a9d8e08c-4067-4766-9741-16b4368b1ab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5140" y="0"/>
            <a:ext cx="5116859" cy="6858000"/>
          </a:xfrm>
          <a:prstGeom prst="rect">
            <a:avLst/>
          </a:prstGeom>
          <a:solidFill>
            <a:srgbClr val="0F2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018407"/>
            <a:ext cx="6096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4740" y="2081212"/>
            <a:ext cx="389765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380357"/>
            <a:ext cx="7673419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Montserrat"/>
              </a:rPr>
              <a:t>CyberSafe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87017"/>
            <a:ext cx="6238748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Montserrat"/>
              </a:rPr>
              <a:t>I4C Cyber Threat Intelligence &amp;</a:t>
            </a:r>
            <a:r>
              <a:t>
</a:t>
            </a:r>
            <a:r>
              <a:rPr b="1" sz="1800" i="0" u="none">
                <a:solidFill>
                  <a:srgbClr val="06B6D4"/>
                </a:solidFill>
                <a:latin typeface="Montserrat"/>
              </a:rPr>
              <a:t> Digital Safety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68067"/>
            <a:ext cx="3905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An academic responsible technology innovation project inspired by official I4C cybercrime advisories.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4740" y="1700212"/>
            <a:ext cx="419255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Montserrat"/>
              </a:rPr>
              <a:t>Project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4740" y="2395537"/>
            <a:ext cx="45072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B6D4"/>
                </a:solidFill>
                <a:latin typeface="Inter"/>
              </a:rPr>
              <a:t>STUDENT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4740" y="2595562"/>
            <a:ext cx="4507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Tiwari Shashank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4740" y="2986087"/>
            <a:ext cx="45072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B6D4"/>
                </a:solidFill>
                <a:latin typeface="Inter"/>
              </a:rPr>
              <a:t>ENROLLMENT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4740" y="3186112"/>
            <a:ext cx="4507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2304050400064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4740" y="3576637"/>
            <a:ext cx="45072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B6D4"/>
                </a:solidFill>
                <a:latin typeface="Inter"/>
              </a:rPr>
              <a:t>COURSE / 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4740" y="3776662"/>
            <a:ext cx="4507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IMSC-IT/7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4740" y="4167187"/>
            <a:ext cx="45072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B6D4"/>
                </a:solidFill>
                <a:latin typeface="Inter"/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4740" y="4367212"/>
            <a:ext cx="4507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SOCCA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4740" y="4757737"/>
            <a:ext cx="45072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B6D4"/>
                </a:solidFill>
                <a:latin typeface="Inter"/>
              </a:rPr>
              <a:t>FACULTY /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4740" y="4957762"/>
            <a:ext cx="4507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Ethical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2205037"/>
            <a:ext cx="5181600" cy="1009650"/>
          </a:xfrm>
          <a:prstGeom prst="roundRect">
            <a:avLst>
              <a:gd name="adj" fmla="val 1132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3443287"/>
            <a:ext cx="5181600" cy="1009650"/>
          </a:xfrm>
          <a:prstGeom prst="roundRect">
            <a:avLst>
              <a:gd name="adj" fmla="val 1132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4681537"/>
            <a:ext cx="5181600" cy="1009650"/>
          </a:xfrm>
          <a:prstGeom prst="roundRect">
            <a:avLst>
              <a:gd name="adj" fmla="val 1132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2622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443162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681412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4919662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595562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3833812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0" y="5072062"/>
            <a:ext cx="2857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CONTEXT &amp;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The 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312021"/>
            <a:ext cx="5540692" cy="1234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FFFFF"/>
                </a:solidFill>
                <a:latin typeface="Montserrat"/>
              </a:rPr>
              <a:t>Cybercrime relies on human manipulation, not just technical exploitation.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698503"/>
            <a:ext cx="52768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Users require interactive, engaging awareness platforms rather than static information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2825" y="2495550"/>
            <a:ext cx="482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Social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2825" y="2733675"/>
            <a:ext cx="4829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Attackers exploit trust and urgency.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2825" y="3733800"/>
            <a:ext cx="482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Pervasive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2825" y="3971925"/>
            <a:ext cx="4829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Scams infiltrate jobs and relationships.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2825" y="4972050"/>
            <a:ext cx="482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Awareness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2825" y="5210175"/>
            <a:ext cx="4829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Accessible cybersecurity education is lacking.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9650" y="198596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6750" y="198596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43850" y="198596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9650" y="398621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6750" y="398621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43850" y="3986212"/>
            <a:ext cx="3238500" cy="1771650"/>
          </a:xfrm>
          <a:prstGeom prst="roundRect">
            <a:avLst>
              <a:gd name="adj" fmla="val 4301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300287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2300287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2300287"/>
            <a:ext cx="2667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4300537"/>
            <a:ext cx="3810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4300537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700" y="4300537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381000" y="457200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6B6D4"/>
                </a:solidFill>
                <a:latin typeface="Inter"/>
              </a:rPr>
              <a:t>GOALS &amp;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81000" y="657225"/>
            <a:ext cx="12954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173" y="275748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Improve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493" y="3062287"/>
            <a:ext cx="345281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Elevate baseline cybercrime comprehension.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3273" y="275748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Explain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9593" y="3062287"/>
            <a:ext cx="345281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Deconstruct real-world scam mechanics.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0373" y="275748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Recognize 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693" y="3062287"/>
            <a:ext cx="3452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Train users to identify early red flags.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73" y="475773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Promote 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493" y="5062537"/>
            <a:ext cx="345281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Encourage privacy-conscious digital behavior.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3273" y="475773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Legal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9593" y="5062537"/>
            <a:ext cx="345281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Explain fundamental cybersecurity frameworks.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0373" y="4757737"/>
            <a:ext cx="362545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Montserrat"/>
              </a:rPr>
              <a:t>Encourage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693" y="5062537"/>
            <a:ext cx="345281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Guide victims to official reporting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981450"/>
            <a:ext cx="200025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3981450"/>
            <a:ext cx="200025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0" y="398145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975" y="398145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" y="3457575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675" y="3457575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457575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325" y="3457575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3650" y="3457575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100" y="5362575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4925" y="5362575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8550" y="5362575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900" y="3686175"/>
            <a:ext cx="3429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4275" y="368617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368617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1975" y="3686175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44150" y="3686175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Research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2390775"/>
            <a:ext cx="952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Official cybercrime advisories were studied to identify recurring scam patterns, manipulation techniques, and prevention strategies.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8100" y="5343525"/>
            <a:ext cx="1247775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I4C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4925" y="5343525"/>
            <a:ext cx="2536031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National Cyber Crime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8550" y="5343525"/>
            <a:ext cx="1181100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India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276" y="4371975"/>
            <a:ext cx="118014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ontserrat"/>
              </a:rPr>
              <a:t>Official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Montserrat"/>
              </a:rPr>
              <a:t> Advisories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1611" y="4371975"/>
            <a:ext cx="101012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ontserrat"/>
              </a:rPr>
              <a:t>Case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Montserrat"/>
              </a:rPr>
              <a:t>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935" y="4371975"/>
            <a:ext cx="1030128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ontserrat"/>
              </a:rPr>
              <a:t>Threat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Montserrat"/>
              </a:rPr>
              <a:t>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0278" y="4371975"/>
            <a:ext cx="75009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ontserrat"/>
              </a:rPr>
              <a:t>Red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Montserrat"/>
              </a:rPr>
              <a:t>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4577" y="4371975"/>
            <a:ext cx="116014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ontserrat"/>
              </a:rPr>
              <a:t>CyberSafe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Montserrat"/>
              </a:rPr>
              <a:t>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5512"/>
            <a:ext cx="3505200" cy="3505200"/>
          </a:xfrm>
          <a:prstGeom prst="roundRect">
            <a:avLst>
              <a:gd name="adj" fmla="val 2173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195512"/>
            <a:ext cx="3505200" cy="3505200"/>
          </a:xfrm>
          <a:prstGeom prst="roundRect">
            <a:avLst>
              <a:gd name="adj" fmla="val 2173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195512"/>
            <a:ext cx="3505200" cy="3505200"/>
          </a:xfrm>
          <a:prstGeom prst="roundRect">
            <a:avLst>
              <a:gd name="adj" fmla="val 2173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691187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95512"/>
            <a:ext cx="3505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275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5691187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5512"/>
            <a:ext cx="3505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9075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7200" y="5691187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2195512"/>
            <a:ext cx="3505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195512"/>
            <a:ext cx="9525" cy="350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THREAT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Case Studies: Identified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538412"/>
            <a:ext cx="312039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WhatsApp Account Renting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7725" y="2538412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Matrimonial Crypto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2538412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Fake CAPTCHA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281362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443287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Financial compensation for account access.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99573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MANIPULATION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15766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Greed and easy income.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5100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RED 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46720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Requests to share OTPs.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502443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Inter"/>
              </a:rPr>
              <a:t>SAFETY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518636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Never share account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7725" y="30241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7725" y="31861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Fake profiles pushing foreign platforms.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7725" y="3738562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MANIPULATION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7725" y="390048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Relationship trust exploitation.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7725" y="4252912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RED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7725" y="441483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Rushed investment conversations.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7725" y="4767262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Inter"/>
              </a:rPr>
              <a:t>SAFETY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7725" y="492918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Independently verify identity.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1525" y="30241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METHOD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1525" y="31861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Unrealistic data entry offers.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1525" y="353853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MANIPULATION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1525" y="370046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Exploiting job desperation.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1525" y="4052887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RED FLAG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1525" y="421481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Mandatory advance registration fees.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1525" y="4767262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Inter"/>
              </a:rPr>
              <a:t>SAFETY RESPONSE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1525" y="492918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Ignore pay-to-work schemes.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5572125" cy="4791075"/>
          </a:xfrm>
          <a:prstGeom prst="roundRect">
            <a:avLst>
              <a:gd name="adj" fmla="val 2385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91325" y="2547937"/>
            <a:ext cx="4791075" cy="685800"/>
          </a:xfrm>
          <a:prstGeom prst="roundRect">
            <a:avLst>
              <a:gd name="adj" fmla="val 555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91325" y="3462337"/>
            <a:ext cx="4791075" cy="685800"/>
          </a:xfrm>
          <a:prstGeom prst="roundRect">
            <a:avLst>
              <a:gd name="adj" fmla="val 555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91325" y="4376737"/>
            <a:ext cx="4791075" cy="685800"/>
          </a:xfrm>
          <a:prstGeom prst="roundRect">
            <a:avLst>
              <a:gd name="adj" fmla="val 555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91325" y="5291137"/>
            <a:ext cx="4791075" cy="685800"/>
          </a:xfrm>
          <a:prstGeom prst="roundRect">
            <a:avLst>
              <a:gd name="adj" fmla="val 555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100" y="2981325"/>
            <a:ext cx="1905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1100" y="3743325"/>
            <a:ext cx="1905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4505325"/>
            <a:ext cx="1905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1100" y="5267325"/>
            <a:ext cx="19050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91325" y="2547937"/>
            <a:ext cx="57150" cy="685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91325" y="3462337"/>
            <a:ext cx="5715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91325" y="4376737"/>
            <a:ext cx="5715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91325" y="5291137"/>
            <a:ext cx="5715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0125" y="2524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2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0125" y="3286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2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0125" y="4048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2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0125" y="4810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23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0125" y="5572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275" y="2738437"/>
            <a:ext cx="3810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75" y="3652837"/>
            <a:ext cx="3810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275" y="4567237"/>
            <a:ext cx="3810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275" y="5481637"/>
            <a:ext cx="3810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THREAT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Digital Arrest &amp; Trading Fraud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1943100"/>
            <a:ext cx="628828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Montserrat"/>
              </a:rPr>
              <a:t>Typical Attack 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1325" y="1919287"/>
            <a:ext cx="54006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Montserrat"/>
              </a:rPr>
              <a:t>CyberSafe Response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2875" y="2752725"/>
            <a:ext cx="10382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PAUSE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2875" y="3667125"/>
            <a:ext cx="11049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2875" y="4581525"/>
            <a:ext cx="13620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PROTECT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2875" y="5495925"/>
            <a:ext cx="12001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50" y="252412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3525" y="2614612"/>
            <a:ext cx="1419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Initial 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328612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3525" y="3376612"/>
            <a:ext cx="2702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Establish Authority /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404812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525" y="4138612"/>
            <a:ext cx="2262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F4444"/>
                </a:solidFill>
                <a:latin typeface="Inter"/>
              </a:rPr>
              <a:t>Manufacture Urgency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481012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3525" y="4900612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Demand Sensitive 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557212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3525" y="5662612"/>
            <a:ext cx="248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Financial / Account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5425"/>
            <a:ext cx="5181600" cy="4905375"/>
          </a:xfrm>
          <a:prstGeom prst="roundRect">
            <a:avLst>
              <a:gd name="adj" fmla="val 233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1495425"/>
            <a:ext cx="5181600" cy="4905375"/>
          </a:xfrm>
          <a:prstGeom prst="roundRect">
            <a:avLst>
              <a:gd name="adj" fmla="val 233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533650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2952750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337185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790950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421005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525" y="253365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2952750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525" y="3371850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525" y="3790950"/>
            <a:ext cx="2857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7525" y="4210050"/>
            <a:ext cx="2857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CORE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Social Engineering &amp; Ethics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1962150"/>
            <a:ext cx="55756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Montserrat"/>
              </a:rPr>
              <a:t>Manipulation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1962150"/>
            <a:ext cx="5324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Montserrat"/>
              </a:rPr>
              <a:t>Digital Ethics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75" y="25431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Trust: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Exploiting assumed relationships.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4475" y="29622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Authority: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Impersonating officials.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4475" y="33813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Urgency:</a:t>
            </a:r>
            <a:r>
              <a:rPr b="1" sz="1800" i="0" u="none">
                <a:solidFill>
                  <a:srgbClr val="EF4444"/>
                </a:solidFill>
                <a:latin typeface="Inter"/>
              </a:rPr>
              <a:t> Forcing immediate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4475" y="38004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Fear: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Threatening legal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4475" y="42195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Greed: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Promising unrealistic returns.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5675" y="25431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Privacy: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Unauthorized data harvesting.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5675" y="29622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Consent: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Deceptive agreement tactics.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5675" y="33813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Identity: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Profile cloning and misuse.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5675" y="38004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06B6D4"/>
                </a:solidFill>
                <a:latin typeface="Inter"/>
              </a:rPr>
              <a:t>Autonomy:</a:t>
            </a:r>
            <a:r>
              <a:rPr b="1" sz="1800" i="0" u="none">
                <a:solidFill>
                  <a:srgbClr val="06B6D4"/>
                </a:solidFill>
                <a:latin typeface="Inter"/>
              </a:rPr>
              <a:t> Stripping user agency.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5675" y="4219575"/>
            <a:ext cx="4872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Victim Blaming:</a:t>
            </a:r>
            <a:r>
              <a:rPr b="1" sz="1800" i="0" u="none">
                <a:solidFill>
                  <a:srgbClr val="EF4444"/>
                </a:solidFill>
                <a:latin typeface="Inter"/>
              </a:rPr>
              <a:t> Shifting fault to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629275"/>
            <a:ext cx="10972800" cy="771525"/>
          </a:xfrm>
          <a:prstGeom prst="roundRect">
            <a:avLst>
              <a:gd name="adj" fmla="val 4938"/>
            </a:avLst>
          </a:prstGeom>
          <a:solidFill>
            <a:srgbClr val="25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47825"/>
            <a:ext cx="3505200" cy="2447925"/>
          </a:xfrm>
          <a:prstGeom prst="roundRect">
            <a:avLst>
              <a:gd name="adj" fmla="val 3112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647825"/>
            <a:ext cx="3505200" cy="2447925"/>
          </a:xfrm>
          <a:prstGeom prst="roundRect">
            <a:avLst>
              <a:gd name="adj" fmla="val 3112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647825"/>
            <a:ext cx="3505200" cy="2447925"/>
          </a:xfrm>
          <a:prstGeom prst="roundRect">
            <a:avLst>
              <a:gd name="adj" fmla="val 3112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629275"/>
            <a:ext cx="38100" cy="7715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86225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47825"/>
            <a:ext cx="35052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05275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4086225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7825"/>
            <a:ext cx="350520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9075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4086225"/>
            <a:ext cx="3505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647825"/>
            <a:ext cx="3505200" cy="571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2875" y="1647825"/>
            <a:ext cx="9525" cy="2447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900737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FRAMEWORKS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Legal Awareness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009775"/>
            <a:ext cx="312039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Information Technology Act, 2000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725" y="2009775"/>
            <a:ext cx="312039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Bharatiya Nyaya Sanhita,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2752725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Modernized criminal framework addressing organized cyber fraud, financial scams, and electronic deception.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1525" y="2009775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DPDP Act,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249555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Digital Personal Data Protection Act establishes boundaries for lawful data processing, consent, and user privacy rights.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5819775"/>
            <a:ext cx="10108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Inter"/>
              </a:rPr>
              <a:t>IMPORTANT DISCLAIMER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6019800"/>
            <a:ext cx="1010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CA5A5"/>
                </a:solidFill>
                <a:latin typeface="Inter"/>
              </a:rPr>
              <a:t>Legal applicability depends on specific case facts. CyberSafe provides awareness information, not legal advice.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27527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B6D4"/>
                </a:solidFill>
                <a:latin typeface="Inter"/>
              </a:rPr>
              <a:t>Section 66C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29813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Punishment for identity theft.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33623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B6D4"/>
                </a:solidFill>
                <a:latin typeface="Inter"/>
              </a:rPr>
              <a:t>Section 66D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925" y="3590925"/>
            <a:ext cx="3595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Cheating by personation via computer.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72980" y="2043112"/>
            <a:ext cx="6309419" cy="3810000"/>
          </a:xfrm>
          <a:prstGeom prst="roundRect">
            <a:avLst>
              <a:gd name="adj" fmla="val 3000"/>
            </a:avLst>
          </a:prstGeom>
          <a:solidFill>
            <a:srgbClr val="1B2335"/>
          </a:solidFill>
          <a:ln w="19050">
            <a:solidFill>
              <a:srgbClr val="3F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090" y="3424237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38475"/>
            <a:ext cx="2286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90900"/>
            <a:ext cx="2286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43325"/>
            <a:ext cx="2286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95750"/>
            <a:ext cx="2286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448175"/>
            <a:ext cx="2286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800600"/>
            <a:ext cx="2286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153025"/>
            <a:ext cx="2286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The CyberSafe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47937"/>
            <a:ext cx="552061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Implemented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40" y="4033837"/>
            <a:ext cx="509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[INSERT CYBERSAFE HOMEPAGE SCREENSHOT]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102" y="4310062"/>
            <a:ext cx="4131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Replace this box with your actual project screenshot.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033712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Home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386137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Case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738562"/>
            <a:ext cx="1607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Threat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090987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Scam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443412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Cyber Laws &amp; Ethics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4795837"/>
            <a:ext cx="170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Safety Checklist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5148262"/>
            <a:ext cx="190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BD5E1"/>
                </a:solidFill>
                <a:latin typeface="Inter"/>
              </a:rPr>
              <a:t>Incident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250" y="3162300"/>
            <a:ext cx="952500" cy="95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601" y="3162300"/>
            <a:ext cx="952500" cy="95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951" y="3162300"/>
            <a:ext cx="9525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00" y="3333750"/>
            <a:ext cx="4572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251" y="3333750"/>
            <a:ext cx="4572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501" y="3333750"/>
            <a:ext cx="5334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457200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6B6D4"/>
                </a:solidFill>
                <a:latin typeface="Inter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657225"/>
            <a:ext cx="12954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Technical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906" y="2476500"/>
            <a:ext cx="8358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Built as a front-end educational prototype relying on core web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8428" y="4343400"/>
            <a:ext cx="116014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ontserrat"/>
              </a:rPr>
              <a:t>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9313" y="4772025"/>
            <a:ext cx="2238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4A3B8"/>
                </a:solidFill>
                <a:latin typeface="Inter"/>
              </a:rPr>
              <a:t>Role: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Semantic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731" y="5038725"/>
            <a:ext cx="3587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Forms, navigation, and modal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0794" y="4343400"/>
            <a:ext cx="91011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ontserrat"/>
              </a:rP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4788" y="4772025"/>
            <a:ext cx="1762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4A3B8"/>
                </a:solidFill>
                <a:latin typeface="Inter"/>
              </a:rPr>
              <a:t>Role: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Visual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2081" y="5038725"/>
            <a:ext cx="3587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Responsive interface and professional styling.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6850" y="4343400"/>
            <a:ext cx="161270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ontserrat"/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6389" y="4772025"/>
            <a:ext cx="2333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94A3B8"/>
                </a:solidFill>
                <a:latin typeface="Inter"/>
              </a:rPr>
              <a:t>Role: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Interactive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9431" y="5038725"/>
            <a:ext cx="3587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Event handling, Scam Detector logic, and dynamic filtering.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5425"/>
            <a:ext cx="3454449" cy="4905375"/>
          </a:xfrm>
          <a:prstGeom prst="roundRect">
            <a:avLst>
              <a:gd name="adj" fmla="val 220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495425"/>
            <a:ext cx="3454449" cy="4905375"/>
          </a:xfrm>
          <a:prstGeom prst="roundRect">
            <a:avLst>
              <a:gd name="adj" fmla="val 220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495425"/>
            <a:ext cx="3454449" cy="4905375"/>
          </a:xfrm>
          <a:prstGeom prst="roundRect">
            <a:avLst>
              <a:gd name="adj" fmla="val 220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391275"/>
            <a:ext cx="34544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495425"/>
            <a:ext cx="345444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4524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849" y="6391275"/>
            <a:ext cx="34544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849" y="1495425"/>
            <a:ext cx="345444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849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3774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99" y="6391275"/>
            <a:ext cx="34544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8099" y="1495425"/>
            <a:ext cx="3454449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099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3023" y="1495425"/>
            <a:ext cx="9525" cy="4905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83832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1838325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1838325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800350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10515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409950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714750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2800350"/>
            <a:ext cx="1143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3105150"/>
            <a:ext cx="1143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3409950"/>
            <a:ext cx="1143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3714750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424" y="2800350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424" y="3105150"/>
            <a:ext cx="1333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424" y="3409950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424" y="3714750"/>
            <a:ext cx="1333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6B6D4"/>
                </a:solidFill>
                <a:latin typeface="Inter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722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Montserrat"/>
              </a:rPr>
              <a:t>Outcomes &amp; Future 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925" y="2333625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Expected 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3174" y="2333625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2424" y="2333625"/>
            <a:ext cx="370886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ontserrat"/>
              </a:rPr>
              <a:t>Future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" y="27813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Improved scam pattern recognition.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25" y="30861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Proactive privacy awareness.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925" y="33909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Clearer legal understanding.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925" y="36957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Responsible digital behavior.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3174" y="2781300"/>
            <a:ext cx="3532249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Educational prototype only.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3174" y="3086100"/>
            <a:ext cx="3532249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Not a guaranteed fraud detector.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3174" y="3390900"/>
            <a:ext cx="3532249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No law-enforcement capability.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3174" y="3695700"/>
            <a:ext cx="3532249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Does not replace official reporting.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2424" y="27813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Multilingual support framework.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2424" y="30861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Scenario-based learning modules.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2424" y="33909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Expanded threat database.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2424" y="369570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Accessibility improvements.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76550" y="3286125"/>
            <a:ext cx="6438900" cy="1181100"/>
          </a:xfrm>
          <a:prstGeom prst="roundRect">
            <a:avLst>
              <a:gd name="adj" fmla="val 9677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67400" y="2038350"/>
            <a:ext cx="4572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576387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1576387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25" y="157638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675" y="3981450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5" y="3981450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3981450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5681" y="4924425"/>
            <a:ext cx="5100637" cy="742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906" y="5819775"/>
            <a:ext cx="1500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6B6D4"/>
                </a:solidFill>
                <a:latin typeface="Inter"/>
              </a:rPr>
              <a:t>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5487" y="762000"/>
            <a:ext cx="820102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Montserrat"/>
              </a:rPr>
              <a:t>The CyberSafe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5487" y="2305050"/>
            <a:ext cx="820102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10B981"/>
                </a:solidFill>
                <a:latin typeface="Montserrat"/>
              </a:rPr>
              <a:t>RESPONSIBLE DIGITAL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3073" y="3600450"/>
            <a:ext cx="682585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Montserrat"/>
              </a:rPr>
              <a:t>REFERENCES &amp;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206" y="1533525"/>
            <a:ext cx="1785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6B6D4"/>
                </a:solidFill>
                <a:latin typeface="Inter"/>
              </a:rPr>
              <a:t>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6325" y="1533525"/>
            <a:ext cx="1143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6B6D4"/>
                </a:solidFill>
                <a:latin typeface="Inter"/>
              </a:rPr>
              <a:t>ETHICS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1533525"/>
            <a:ext cx="7905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6B6D4"/>
                </a:solidFill>
                <a:latin typeface="Inter"/>
              </a:rPr>
              <a:t>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121" y="1533525"/>
            <a:ext cx="19645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6B6D4"/>
                </a:solidFill>
                <a:latin typeface="Inter"/>
              </a:rPr>
              <a:t>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3750" y="3962400"/>
            <a:ext cx="1619250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I4C Advisories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4887" y="3962400"/>
            <a:ext cx="2809875" cy="190500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National Cyber Crime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3962400"/>
            <a:ext cx="1333500" cy="1905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India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